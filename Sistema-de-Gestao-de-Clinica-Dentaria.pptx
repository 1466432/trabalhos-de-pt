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artian Mono"/>
      <p:regular r:id="rId201314"/>
    </p:embeddedFont>
    <p:embeddedFont>
      <p:font typeface="Martian Mono Medium"/>
      <p:regular r:id="rId201315"/>
    </p:embeddedFont>
    <p:embeddedFont>
      <p:font typeface="Martian Mono Bold"/>
      <p:regular r:id="rId201316"/>
    </p:embeddedFont>
    <p:embeddedFont>
      <p:font typeface="Saira Condensed ExtraBold"/>
      <p:regular r:id="rId201317"/>
    </p:embeddedFont>
    <p:embeddedFont>
      <p:font typeface="Sora"/>
      <p:regular r:id="rId201318"/>
    </p:embeddedFont>
    <p:embeddedFont>
      <p:font typeface="Sora SemiBold"/>
      <p:regular r:id="rId201319"/>
    </p:embeddedFont>
    <p:embeddedFont>
      <p:font typeface="Sora Bold"/>
      <p:regular r:id="rId201320"/>
    </p:embeddedFont>
    <p:embeddedFont>
      <p:font typeface="Tomorrow Bold"/>
      <p:regular r:id="rId201321"/>
    </p:embeddedFont>
    <p:embeddedFont>
      <p:font typeface="Tomorrow"/>
      <p:regular r:id="rId201322"/>
    </p:embeddedFont>
    <p:embeddedFont>
      <p:font typeface="Tomorrow Medium"/>
      <p:regular r:id="rId201323"/>
    </p:embeddedFont>
    <p:embeddedFont>
      <p:font typeface="Unbounded Semi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prova de avaliação da PAP aos professores e avaliadores. Situar o trabalho como Projecto de Aptidão Profissional em Informática de Gestão no Instituto Médio Comercial de Luanda.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a identificação do estudante, turma, classe e enquadramento curricular perante o júri de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origem do problema: a dispersão de registos físicos e ficheiros soltos. Salientar que o estudo de caso é fictício, dimensionado para o contexto de Luanda.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Detalhar o ciclo de execução da proposta: do login do funcionário no browser até ao processamento e gravação em base de dados MySQL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a natureza de Informática de Gestão do projecto: foco na optimização de rotinas administrativas, mantendo o sistema simples e realizável.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maturidade técnica perante o júri ao explicitar as fronteiras do trabalho: o que foi planeado e o que intencionalmente não faz parte do protótipo escolar.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Descrever como o sistema apoia os quatro papéis da clínica: recepcionista no acolhimento, dentista no consultório, gestor nas finanças e administrador nos acessos.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separação em camadas: o cliente no browser, a lógica em PHP no Apache e os dados no MySQL. Destacar a ressalva sobre segurança em redes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Concluir com o modelo relacional que sustenta a aplicação: explicar como a tabela Consultas faz a ponte entre Pacientes, Tratamentos e Pagamentos.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1E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1E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09" y="738569"/>
            <a:ext cx="7270568" cy="1241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5200" spc="-208" kern="100" dirty="0">
                <a:solidFill>
                  <a:srgbClr val="FFFFFF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SISTEMA DE GESTÃO</a:t>
            </a:r>
            <a:endParaRPr lang="en-US" sz="52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5200" spc="-208" kern="100" dirty="0">
                <a:solidFill>
                  <a:srgbClr val="FFFFFF"/>
                </a:solidFill>
                <a:latin typeface="Saira Condensed ExtraBold" pitchFamily="34" charset="0"/>
                <a:ea typeface="Saira Condensed ExtraBold" pitchFamily="34" charset="-122"/>
                <a:cs typeface="Saira Condensed ExtraBold" pitchFamily="34" charset="-120"/>
              </a:rPr>
              <a:t>DE CLÍNICA DENTÁRIA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57209" y="2144713"/>
            <a:ext cx="1817543" cy="31651"/>
          </a:xfrm>
          <a:prstGeom prst="roundRect">
            <a:avLst>
              <a:gd name="adj" fmla="val 49998"/>
            </a:avLst>
          </a:prstGeom>
          <a:solidFill>
            <a:srgbClr val="2340E8"/>
          </a:solidFill>
          <a:ln/>
        </p:spPr>
      </p:sp>
      <p:sp>
        <p:nvSpPr>
          <p:cNvPr id="4" name="Text 2"/>
          <p:cNvSpPr/>
          <p:nvPr/>
        </p:nvSpPr>
        <p:spPr>
          <a:xfrm>
            <a:off x="657209" y="2565146"/>
            <a:ext cx="727056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Projecto de Aptidão Profissional | Informática de Gestão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7209" y="3055342"/>
            <a:ext cx="3392899" cy="1239838"/>
          </a:xfrm>
          <a:custGeom>
            <a:avLst/>
            <a:gdLst/>
            <a:ahLst/>
            <a:cxnLst/>
            <a:rect l="l" t="t" r="r" b="b"/>
            <a:pathLst>
              <a:path w="3392899" h="1239838">
                <a:moveTo>
                  <a:pt x="9525" y="0"/>
                </a:moveTo>
                <a:lnTo>
                  <a:pt x="3392899" y="0"/>
                </a:lnTo>
                <a:lnTo>
                  <a:pt x="3392899" y="1239838"/>
                </a:lnTo>
                <a:lnTo>
                  <a:pt x="9525" y="1239838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1A1033"/>
          </a:solidFill>
          <a:ln/>
        </p:spPr>
      </p:sp>
      <p:sp>
        <p:nvSpPr>
          <p:cNvPr id="6" name="Text 4"/>
          <p:cNvSpPr/>
          <p:nvPr/>
        </p:nvSpPr>
        <p:spPr>
          <a:xfrm>
            <a:off x="885803" y="3295690"/>
            <a:ext cx="316430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INSTITUIÇÃO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5803" y="3579813"/>
            <a:ext cx="2935710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Instituto Médio Comercial de Luanda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50107" y="3055342"/>
            <a:ext cx="1938785" cy="1239838"/>
          </a:xfrm>
          <a:prstGeom prst="rect">
            <a:avLst/>
          </a:prstGeom>
          <a:solidFill>
            <a:srgbClr val="1A1033"/>
          </a:solidFill>
          <a:ln/>
        </p:spPr>
      </p:sp>
      <p:sp>
        <p:nvSpPr>
          <p:cNvPr id="9" name="Text 7"/>
          <p:cNvSpPr/>
          <p:nvPr/>
        </p:nvSpPr>
        <p:spPr>
          <a:xfrm>
            <a:off x="4278702" y="3295690"/>
            <a:ext cx="171019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ANO LECTIVO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78702" y="3579813"/>
            <a:ext cx="171019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2026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88892" y="3055342"/>
            <a:ext cx="1938785" cy="1239838"/>
          </a:xfrm>
          <a:custGeom>
            <a:avLst/>
            <a:gdLst/>
            <a:ahLst/>
            <a:cxnLst/>
            <a:rect l="l" t="t" r="r" b="b"/>
            <a:pathLst>
              <a:path w="1938785" h="1239838">
                <a:moveTo>
                  <a:pt x="0" y="0"/>
                </a:moveTo>
                <a:lnTo>
                  <a:pt x="1929260" y="0"/>
                </a:lnTo>
                <a:arcTo hR="9525" wR="9525" stAng="16200000" swAng="5400000"/>
                <a:lnTo>
                  <a:pt x="1938785" y="1230313"/>
                </a:lnTo>
                <a:arcTo hR="9525" wR="9525" stAng="0" swAng="5400000"/>
                <a:lnTo>
                  <a:pt x="0" y="1239838"/>
                </a:lnTo>
                <a:lnTo>
                  <a:pt x="0" y="0"/>
                </a:lnTo>
                <a:close/>
              </a:path>
            </a:pathLst>
          </a:custGeom>
          <a:solidFill>
            <a:srgbClr val="1A103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487" y="3295690"/>
            <a:ext cx="171019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ÂMBITO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487" y="3579813"/>
            <a:ext cx="1481597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PAP · Prova de avaliação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043757" y="3055342"/>
            <a:ext cx="12700" cy="1239838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982543" y="3055342"/>
            <a:ext cx="12700" cy="1239838"/>
          </a:xfrm>
          <a:prstGeom prst="rect">
            <a:avLst/>
          </a:prstGeom>
          <a:solidFill>
            <a:srgbClr val="C4B8E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347"/>
            <a:ext cx="643119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3E375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IDENTIFICAÇÃO DO FORMANDO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362"/>
            <a:ext cx="5821614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150C2E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Ficha técnica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1455304" cy="31651"/>
          </a:xfrm>
          <a:prstGeom prst="roundRect">
            <a:avLst>
              <a:gd name="adj" fmla="val 49998"/>
            </a:avLst>
          </a:prstGeom>
          <a:solidFill>
            <a:srgbClr val="2340E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44576"/>
            <a:ext cx="5821614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Dados académicos e enquadramento curricular do projecto.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858691"/>
          <a:ext cx="5821614" cy="914400"/>
        </p:xfrm>
        <a:graphic>
          <a:graphicData uri="http://schemas.openxmlformats.org/drawingml/2006/table">
            <a:tbl>
              <a:tblPr/>
              <a:tblGrid>
                <a:gridCol w="1746405"/>
                <a:gridCol w="4075209"/>
              </a:tblGrid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3" kern="100" dirty="0">
                          <a:solidFill>
                            <a:srgbClr val="3E375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NOME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Alberto José Bengui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3" kern="100" dirty="0">
                          <a:solidFill>
                            <a:srgbClr val="3E375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CURSO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Informática de Gestão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3" kern="100" dirty="0">
                          <a:solidFill>
                            <a:srgbClr val="3E375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TURMA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92" kern="100" dirty="0">
                          <a:solidFill>
                            <a:srgbClr val="2A2342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CTI</a:t>
                      </a:r>
                      <a:endParaRPr lang="en-US" sz="12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3" kern="100" dirty="0">
                          <a:solidFill>
                            <a:srgbClr val="3E375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CLASSE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13.ª Classe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3" kern="100" dirty="0">
                          <a:solidFill>
                            <a:srgbClr val="3E375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TURNO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Tarde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2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3" kern="100" dirty="0">
                          <a:solidFill>
                            <a:srgbClr val="3E375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SALA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92" kern="100" dirty="0">
                          <a:solidFill>
                            <a:srgbClr val="2A2342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SALA 16</a:t>
                      </a:r>
                      <a:endParaRPr lang="en-US" sz="120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5964376"/>
            <a:ext cx="5821614" cy="29587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6" kern="100" dirty="0">
                <a:solidFill>
                  <a:srgbClr val="57506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IMCL · DEPARTAMENTO DE INFORMÁTICA · 2026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0594" y="6458545"/>
            <a:ext cx="81764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57506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074" y="519747"/>
            <a:ext cx="71626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3E375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CONTEXTO E DIAGNÓSTICO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074" y="800762"/>
            <a:ext cx="6603835" cy="1426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150C2E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O projecto responde a um problema de organização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029074" y="2392462"/>
            <a:ext cx="6603835" cy="1994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Dados de pacientes, consultas, tratamentos e pagamentos podem ficar dispersos por papéis, cadernos ou ficheiros separados.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Essa dispersão pode tornar a pesquisa mais lenta e favorecer duplicações, perdas ou incoerências.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estudo de caso é fictício e situado numa clínica dentária de pequena dimensão em Luanda.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347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3E375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FLUXO DE TRABALHO DA SOLUÇÃO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362"/>
            <a:ext cx="1097252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150C2E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Uma aplicação local centraliza a informação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064544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2340E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20131"/>
            <a:ext cx="10972526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sistema proposto funciona num navegador, num computador da clínica ou numa rede local autorizada.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4020542"/>
            <a:ext cx="8346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340E8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4287242"/>
            <a:ext cx="1950592" cy="19050"/>
          </a:xfrm>
          <a:prstGeom prst="rect">
            <a:avLst/>
          </a:prstGeom>
          <a:solidFill>
            <a:srgbClr val="2340E8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4385667"/>
            <a:ext cx="195069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utilizador inicia sessão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64969" y="4020542"/>
            <a:ext cx="8731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340E8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64969" y="4287242"/>
            <a:ext cx="1950592" cy="19050"/>
          </a:xfrm>
          <a:prstGeom prst="rect">
            <a:avLst/>
          </a:prstGeom>
          <a:solidFill>
            <a:srgbClr val="2340E8"/>
          </a:solidFill>
          <a:ln/>
        </p:spPr>
      </p:sp>
      <p:sp>
        <p:nvSpPr>
          <p:cNvPr id="11" name="Text 9"/>
          <p:cNvSpPr/>
          <p:nvPr/>
        </p:nvSpPr>
        <p:spPr>
          <a:xfrm>
            <a:off x="2864969" y="4385667"/>
            <a:ext cx="195069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Escolhe a função necessária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353" y="4020542"/>
            <a:ext cx="87290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340E8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20353" y="4287242"/>
            <a:ext cx="1950889" cy="19050"/>
          </a:xfrm>
          <a:prstGeom prst="rect">
            <a:avLst/>
          </a:prstGeom>
          <a:solidFill>
            <a:srgbClr val="2340E8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353" y="4385667"/>
            <a:ext cx="1950889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Pesquisa ou preenche um registo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75936" y="4020542"/>
            <a:ext cx="8797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340E8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75936" y="4287242"/>
            <a:ext cx="1950592" cy="19050"/>
          </a:xfrm>
          <a:prstGeom prst="rect">
            <a:avLst/>
          </a:prstGeom>
          <a:solidFill>
            <a:srgbClr val="2340E8"/>
          </a:solidFill>
          <a:ln/>
        </p:spPr>
      </p:sp>
      <p:sp>
        <p:nvSpPr>
          <p:cNvPr id="17" name="Text 15"/>
          <p:cNvSpPr/>
          <p:nvPr/>
        </p:nvSpPr>
        <p:spPr>
          <a:xfrm>
            <a:off x="7375936" y="4385667"/>
            <a:ext cx="195069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servidor valida dados e permissões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31320" y="4020542"/>
            <a:ext cx="8749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340E8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31320" y="4287242"/>
            <a:ext cx="1950691" cy="19050"/>
          </a:xfrm>
          <a:prstGeom prst="rect">
            <a:avLst/>
          </a:prstGeom>
          <a:solidFill>
            <a:srgbClr val="2340E8"/>
          </a:solidFill>
          <a:ln/>
        </p:spPr>
      </p:sp>
      <p:sp>
        <p:nvSpPr>
          <p:cNvPr id="20" name="Text 18"/>
          <p:cNvSpPr/>
          <p:nvPr/>
        </p:nvSpPr>
        <p:spPr>
          <a:xfrm>
            <a:off x="9631320" y="4385667"/>
            <a:ext cx="195079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base de dados guarda ou devolve a informação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92945" y="6458545"/>
            <a:ext cx="398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57506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347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3E375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ESCOPO E FINALIDADE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36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150C2E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O objectivo é administrativo, não clínico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2340E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44576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Cinco pilares de gestão para estruturar a rotina diária da clínica sem interferir no acto médico.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585" y="2346920"/>
            <a:ext cx="539736" cy="539750"/>
          </a:xfrm>
          <a:prstGeom prst="roundRect">
            <a:avLst>
              <a:gd name="adj" fmla="val 10588"/>
            </a:avLst>
          </a:prstGeom>
          <a:noFill/>
          <a:ln w="12700">
            <a:solidFill>
              <a:srgbClr val="C4B8E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56" y="2502495"/>
            <a:ext cx="228594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585" y="3076853"/>
            <a:ext cx="34797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PACIENTES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9585" y="3405386"/>
            <a:ext cx="3479713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Registar dados pessoais, contactos essenciais e permitir pesquisas rápidas por nome ou telefone.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44889" y="2346920"/>
            <a:ext cx="539736" cy="539750"/>
          </a:xfrm>
          <a:prstGeom prst="roundRect">
            <a:avLst>
              <a:gd name="adj" fmla="val 10588"/>
            </a:avLst>
          </a:prstGeom>
          <a:noFill/>
          <a:ln w="12700">
            <a:solidFill>
              <a:srgbClr val="C4B8E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460" y="2502495"/>
            <a:ext cx="228594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44889" y="3076853"/>
            <a:ext cx="330191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AGENDA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444889" y="3405386"/>
            <a:ext cx="3301917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Marcar, alterar, cancelar e consultar horários de consultas, evitando sobreposição de atendimentos.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02397" y="2346920"/>
            <a:ext cx="539736" cy="539750"/>
          </a:xfrm>
          <a:prstGeom prst="roundRect">
            <a:avLst>
              <a:gd name="adj" fmla="val 10588"/>
            </a:avLst>
          </a:prstGeom>
          <a:noFill/>
          <a:ln w="12700">
            <a:solidFill>
              <a:srgbClr val="C4B8E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968" y="2502495"/>
            <a:ext cx="228594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02397" y="3076853"/>
            <a:ext cx="34797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TRATAMENTOS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102397" y="3405386"/>
            <a:ext cx="3479713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Associar actos dentários realizados ao paciente e à consulta de forma estruturada e controlada.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09585" y="4491137"/>
            <a:ext cx="539736" cy="539750"/>
          </a:xfrm>
          <a:prstGeom prst="roundRect">
            <a:avLst>
              <a:gd name="adj" fmla="val 10588"/>
            </a:avLst>
          </a:prstGeom>
          <a:noFill/>
          <a:ln w="12700">
            <a:solidFill>
              <a:srgbClr val="C4B8E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56" y="4646712"/>
            <a:ext cx="228594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9585" y="5221069"/>
            <a:ext cx="530846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PAGAMENTOS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9585" y="5549602"/>
            <a:ext cx="5308467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Anotar valores pagos, datas, métodos recebidos e consultar informação administrativa das contas.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273643" y="4491137"/>
            <a:ext cx="539736" cy="539750"/>
          </a:xfrm>
          <a:prstGeom prst="roundRect">
            <a:avLst>
              <a:gd name="adj" fmla="val 10588"/>
            </a:avLst>
          </a:prstGeom>
          <a:noFill/>
          <a:ln w="12700">
            <a:solidFill>
              <a:srgbClr val="C4B8E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214" y="4646712"/>
            <a:ext cx="228594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73643" y="5221069"/>
            <a:ext cx="530846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HISTÓRICO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273643" y="5549602"/>
            <a:ext cx="5308467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Organizar o percurso de consultas anteriores e tratamentos de forma acessível e fiável para a equipa.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4260743" y="2346920"/>
            <a:ext cx="12700" cy="1966416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27" name="Shape 20"/>
          <p:cNvSpPr/>
          <p:nvPr/>
        </p:nvSpPr>
        <p:spPr>
          <a:xfrm>
            <a:off x="7918252" y="2346920"/>
            <a:ext cx="12700" cy="1966416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28" name="Shape 21"/>
          <p:cNvSpPr/>
          <p:nvPr/>
        </p:nvSpPr>
        <p:spPr>
          <a:xfrm>
            <a:off x="609585" y="4306987"/>
            <a:ext cx="5486263" cy="12700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29" name="Shape 22"/>
          <p:cNvSpPr/>
          <p:nvPr/>
        </p:nvSpPr>
        <p:spPr>
          <a:xfrm>
            <a:off x="6089498" y="4313337"/>
            <a:ext cx="12700" cy="1966416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30" name="Shape 23"/>
          <p:cNvSpPr/>
          <p:nvPr/>
        </p:nvSpPr>
        <p:spPr>
          <a:xfrm>
            <a:off x="6095848" y="4306987"/>
            <a:ext cx="5486263" cy="12700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31" name="Text 24"/>
          <p:cNvSpPr/>
          <p:nvPr/>
        </p:nvSpPr>
        <p:spPr>
          <a:xfrm>
            <a:off x="11792945" y="6458545"/>
            <a:ext cx="398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57506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94848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150C2E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O sistema tem limites claros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09585" y="2535436"/>
            <a:ext cx="5257668" cy="1982986"/>
          </a:xfrm>
          <a:prstGeom prst="rect">
            <a:avLst/>
          </a:prstGeom>
          <a:solidFill>
            <a:srgbClr val="FFCBB3"/>
          </a:solidFill>
          <a:ln/>
        </p:spPr>
      </p:sp>
      <p:sp>
        <p:nvSpPr>
          <p:cNvPr id="4" name="Text 2"/>
          <p:cNvSpPr/>
          <p:nvPr/>
        </p:nvSpPr>
        <p:spPr>
          <a:xfrm>
            <a:off x="914377" y="2840236"/>
            <a:ext cx="464808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Inclui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14377" y="3402211"/>
            <a:ext cx="464808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Cadastro, agenda, tratamentos, histórico, pagamentos e permissões.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24442" y="2535436"/>
            <a:ext cx="5257668" cy="1982986"/>
          </a:xfrm>
          <a:prstGeom prst="rect">
            <a:avLst/>
          </a:prstGeom>
          <a:solidFill>
            <a:srgbClr val="8FE3BE"/>
          </a:solidFill>
          <a:ln/>
        </p:spPr>
      </p:sp>
      <p:sp>
        <p:nvSpPr>
          <p:cNvPr id="7" name="Text 5"/>
          <p:cNvSpPr/>
          <p:nvPr/>
        </p:nvSpPr>
        <p:spPr>
          <a:xfrm>
            <a:off x="6629234" y="2840236"/>
            <a:ext cx="464808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Fica fora do âmbito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629234" y="3402211"/>
            <a:ext cx="4648084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Diagnóstico automático, prescrição electrónica, radiografias, pagamentos electrónicos e marcações públicas na internet.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585" y="4707271"/>
            <a:ext cx="10972526" cy="298648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6" kern="100" dirty="0">
                <a:solidFill>
                  <a:srgbClr val="57506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 protótipo será desenvolvido e testado localmente com dados fictícios.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92945" y="6458545"/>
            <a:ext cx="398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57506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18147"/>
            <a:ext cx="680703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3E375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PERFIS E RESPONSABILIDADES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99162"/>
            <a:ext cx="6349841" cy="1426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150C2E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As funcionalidades seguem o percurso da clínica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07987" y="2336899"/>
            <a:ext cx="1587460" cy="31651"/>
          </a:xfrm>
          <a:prstGeom prst="roundRect">
            <a:avLst>
              <a:gd name="adj" fmla="val 49998"/>
            </a:avLst>
          </a:prstGeom>
          <a:solidFill>
            <a:srgbClr val="2340E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614394"/>
            <a:ext cx="634984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RECEPÇÃO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87" y="2981027"/>
            <a:ext cx="634984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Pesquisa pacientes e gere marcações.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87" y="3679805"/>
            <a:ext cx="634984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PROFISSIONAL CLÍNICO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87" y="4046438"/>
            <a:ext cx="634984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Consulta o histórico e regista tratamentos.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87" y="4745216"/>
            <a:ext cx="634984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ADMINISTRAÇÃO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987" y="5111849"/>
            <a:ext cx="634984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Acompanha pagamentos e actividades.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987" y="5810627"/>
            <a:ext cx="634984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GESTÃO DE UTILIZADORES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7987" y="6177260"/>
            <a:ext cx="634984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Limita operações conforme o perfil.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7987" y="3448348"/>
            <a:ext cx="6349841" cy="12700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15" name="Shape 12"/>
          <p:cNvSpPr/>
          <p:nvPr/>
        </p:nvSpPr>
        <p:spPr>
          <a:xfrm>
            <a:off x="507987" y="4513759"/>
            <a:ext cx="6349841" cy="12700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16" name="Shape 13"/>
          <p:cNvSpPr/>
          <p:nvPr/>
        </p:nvSpPr>
        <p:spPr>
          <a:xfrm>
            <a:off x="507987" y="5579170"/>
            <a:ext cx="6349841" cy="12700"/>
          </a:xfrm>
          <a:prstGeom prst="rect">
            <a:avLst/>
          </a:prstGeom>
          <a:solidFill>
            <a:srgbClr val="C4B8E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347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3E375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ESTRUTURA TÉCNICA EM TRÊS CAMADAS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362"/>
            <a:ext cx="1097252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150C2E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A arquitectura separa interface, lógica e dados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064544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2340E8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320131"/>
            <a:ext cx="3454314" cy="1712516"/>
          </a:xfrm>
          <a:prstGeom prst="rect">
            <a:avLst/>
          </a:prstGeom>
          <a:solidFill>
            <a:srgbClr val="FFCBB3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624931"/>
            <a:ext cx="284472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Navegador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14377" y="3186906"/>
            <a:ext cx="284472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Apresenta formulários e resultados.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2320131"/>
            <a:ext cx="3454314" cy="1712516"/>
          </a:xfrm>
          <a:prstGeom prst="rect">
            <a:avLst/>
          </a:prstGeom>
          <a:solidFill>
            <a:srgbClr val="FFA37F"/>
          </a:solidFill>
          <a:ln/>
        </p:spPr>
      </p:sp>
      <p:sp>
        <p:nvSpPr>
          <p:cNvPr id="9" name="Text 7"/>
          <p:cNvSpPr/>
          <p:nvPr/>
        </p:nvSpPr>
        <p:spPr>
          <a:xfrm>
            <a:off x="4673483" y="2624931"/>
            <a:ext cx="284472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Servidor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673483" y="3186906"/>
            <a:ext cx="284472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Processa pedidos, valida regras e permissões.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2320131"/>
            <a:ext cx="3454314" cy="1712516"/>
          </a:xfrm>
          <a:prstGeom prst="rect">
            <a:avLst/>
          </a:prstGeom>
          <a:solidFill>
            <a:srgbClr val="8FE3BE"/>
          </a:solidFill>
          <a:ln/>
        </p:spPr>
      </p:sp>
      <p:sp>
        <p:nvSpPr>
          <p:cNvPr id="12" name="Text 10"/>
          <p:cNvSpPr/>
          <p:nvPr/>
        </p:nvSpPr>
        <p:spPr>
          <a:xfrm>
            <a:off x="8432589" y="2624931"/>
            <a:ext cx="284472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Base de dados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432589" y="3186906"/>
            <a:ext cx="284472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Conserva registos relacionados.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585" y="4221496"/>
            <a:ext cx="10972526" cy="298648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6" kern="100" dirty="0">
                <a:solidFill>
                  <a:srgbClr val="57506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 funcionamento previsto é local; uma rede real exigiria configuração e segurança adicionais.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92945" y="6458545"/>
            <a:ext cx="398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57506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1417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150C2E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Cada tecnologia cumpre uma função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09585" y="1303913"/>
            <a:ext cx="365750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HTML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1670546"/>
            <a:ext cx="365750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Estrutura formulários e páginas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44889" y="1303913"/>
            <a:ext cx="347971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CSS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889" y="1670546"/>
            <a:ext cx="347971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Organiza a apresentação visual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02397" y="1303913"/>
            <a:ext cx="347971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02397" y="1670546"/>
            <a:ext cx="347971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Acrescenta interacção e avisos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585" y="3964861"/>
            <a:ext cx="365750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PHP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4331494"/>
            <a:ext cx="347971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Processa pedidos e aplica regras no servidor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44889" y="3964861"/>
            <a:ext cx="347971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MYSQL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44889" y="4331494"/>
            <a:ext cx="347971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Guarda os dados relacionados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02397" y="3964861"/>
            <a:ext cx="347971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216" kern="100" dirty="0">
                <a:solidFill>
                  <a:srgbClr val="2A2342"/>
                </a:solidFill>
                <a:latin typeface="Tomorrow Medium" pitchFamily="34" charset="0"/>
                <a:ea typeface="Tomorrow Medium" pitchFamily="34" charset="-122"/>
                <a:cs typeface="Tomorrow Medium" pitchFamily="34" charset="-120"/>
              </a:rPr>
              <a:t>WAMPSERVER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02397" y="4331494"/>
            <a:ext cx="347971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Apoia o desenvolvimento local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60743" y="1282005"/>
            <a:ext cx="12700" cy="2483148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8252" y="1282005"/>
            <a:ext cx="12700" cy="2483148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3758803"/>
            <a:ext cx="3657509" cy="12700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18" name="Shape 16"/>
          <p:cNvSpPr/>
          <p:nvPr/>
        </p:nvSpPr>
        <p:spPr>
          <a:xfrm>
            <a:off x="4260743" y="3765153"/>
            <a:ext cx="12700" cy="2483247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19" name="Shape 17"/>
          <p:cNvSpPr/>
          <p:nvPr/>
        </p:nvSpPr>
        <p:spPr>
          <a:xfrm>
            <a:off x="4267093" y="3758803"/>
            <a:ext cx="3657509" cy="12700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20" name="Shape 18"/>
          <p:cNvSpPr/>
          <p:nvPr/>
        </p:nvSpPr>
        <p:spPr>
          <a:xfrm>
            <a:off x="7918252" y="3765153"/>
            <a:ext cx="12700" cy="2483247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21" name="Shape 19"/>
          <p:cNvSpPr/>
          <p:nvPr/>
        </p:nvSpPr>
        <p:spPr>
          <a:xfrm>
            <a:off x="7924602" y="3758803"/>
            <a:ext cx="3657509" cy="12700"/>
          </a:xfrm>
          <a:prstGeom prst="rect">
            <a:avLst/>
          </a:prstGeom>
          <a:solidFill>
            <a:srgbClr val="C4B8E4"/>
          </a:solidFill>
          <a:ln/>
        </p:spPr>
      </p:sp>
      <p:sp>
        <p:nvSpPr>
          <p:cNvPr id="22" name="Text 20"/>
          <p:cNvSpPr/>
          <p:nvPr/>
        </p:nvSpPr>
        <p:spPr>
          <a:xfrm>
            <a:off x="11792945" y="6458545"/>
            <a:ext cx="398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57506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347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3E375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MODELO DE DADOS PRELIMINAR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362"/>
            <a:ext cx="1097252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150C2E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A base de dados liga os registos essenciais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064544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2340E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20131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A234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Estrutura preliminar do sistema: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768402"/>
          <a:ext cx="10972526" cy="914400"/>
        </p:xfrm>
        <a:graphic>
          <a:graphicData uri="http://schemas.openxmlformats.org/drawingml/2006/table">
            <a:tbl>
              <a:tblPr/>
              <a:tblGrid>
                <a:gridCol w="3072232"/>
                <a:gridCol w="7900294"/>
              </a:tblGrid>
              <a:tr h="398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1A1033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REGISTO</a:t>
                      </a:r>
                      <a:endParaRPr lang="en-US" sz="10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1A1033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INFORMAÇÃO</a:t>
                      </a:r>
                      <a:endParaRPr lang="en-US" sz="10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Pacientes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Identificação e contacto necessários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Utilizadores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Conta, perfil e estado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Consultas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Paciente, profissional, data, hora e estado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Tratamentos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Consulta, data e descrição autorizada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6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Pagamentos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342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Valor, data, método e estado</a:t>
                      </a:r>
                      <a:endParaRPr lang="en-US" sz="15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792945" y="6458545"/>
            <a:ext cx="398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57506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2026-10-21T18:12:12Z</dcterms:created>
  <dcterms:modified xsi:type="dcterms:W3CDTF">2026-10-21T18:12:12Z</dcterms:modified>
</cp:coreProperties>
</file>